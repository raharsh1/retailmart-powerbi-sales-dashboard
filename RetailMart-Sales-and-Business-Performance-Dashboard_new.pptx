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2" r:id="rId10"/>
  </p:sldIdLst>
  <p:sldSz cx="12192000" cy="6858000"/>
  <p:notesSz cx="6858000" cy="12192000"/>
  <p:embeddedFontLst>
    <p:embeddedFont>
      <p:font typeface="Noto Serif" panose="02020600060500020200" pitchFamily="18" charset="0"/>
      <p:regular r:id="rId12"/>
    </p:embeddedFont>
    <p:embeddedFont>
      <p:font typeface="Noto Serif Medium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63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ED7B-3413-CBFF-38FF-D33EED6A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E878A-37C5-F32B-BFC5-EE0449E0D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D4EEE-82DA-AC51-90E1-2F3FCA1D6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8C184-A93E-9181-0687-9A058AE82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54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FACD-4FD8-4F3F-67F6-AFEA7B02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637DD-992A-3CBB-4308-72118B0B7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AF05-E4AE-1E1D-1A02-56BA6B861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725C-5D48-5417-B49C-94F607DB9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50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1088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kern="0" spc="-10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RetailMart: Sales &amp; Business Performance Dashboard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356682" y="4264918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Power BI Analysis of Sales, Profitability &amp; Customer Trends (2023–2025)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1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20243"/>
            <a:ext cx="10868745" cy="298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RetailMart's total sales look healthy on paper, but performance is far from even — some regions and categories are quietly declining while others carry the business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and East together generate barely a third of the profit that South alone does, and leadership has no easy way to see this gap forming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Sales dip sharply every February and slow months often go unnoticed until quarterly reports land — too late to act 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Without a consolidated view, no one can tell whether a region, category, or customer segment is genuinely declining, or just fluctuating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Objective: build an interactive Power BI dashboard that surfaces exactly where sales and profit are slipping, so leadership can act before small gaps turn into bigger losses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6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09330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Fictional Indian retail company, "RetailMart"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Dataset: 75,000 transaction records, 22 columns, Jan 2023 – Dec 2025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Tool: Microsoft Power BI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Goal: Turn raw sales data into clear, actionable business insight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9" y="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37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Sales Overview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74562"/>
            <a:ext cx="12191999" cy="638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190482"/>
            <a:ext cx="1086874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B4A1-2A86-FF5D-435A-0A08C1AC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A43F16-AFB0-61B5-A162-E8C02F5852A9}"/>
              </a:ext>
            </a:extLst>
          </p:cNvPr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Sales Overview</a:t>
            </a:r>
            <a:endParaRPr lang="en-US" sz="1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1A47469-8B8C-96E6-7063-7027E35AE99A}"/>
              </a:ext>
            </a:extLst>
          </p:cNvPr>
          <p:cNvSpPr/>
          <p:nvPr/>
        </p:nvSpPr>
        <p:spPr>
          <a:xfrm>
            <a:off x="568878" y="1102198"/>
            <a:ext cx="10868745" cy="4598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Overall Business Performance:</a:t>
            </a:r>
            <a:r>
              <a:rPr lang="en-IN" sz="2000" dirty="0"/>
              <a:t> Displays Total Sales of </a:t>
            </a:r>
            <a:r>
              <a:rPr lang="en-IN" sz="2000" b="1" dirty="0"/>
              <a:t>₹351.34M</a:t>
            </a:r>
            <a:r>
              <a:rPr lang="en-IN" sz="2000" dirty="0"/>
              <a:t>, Total Profit of </a:t>
            </a:r>
            <a:r>
              <a:rPr lang="en-IN" sz="2000" b="1" dirty="0"/>
              <a:t>₹123.55M</a:t>
            </a:r>
            <a:r>
              <a:rPr lang="en-IN" sz="2000" dirty="0"/>
              <a:t>, </a:t>
            </a:r>
            <a:r>
              <a:rPr lang="en-IN" sz="2000" b="1" dirty="0"/>
              <a:t>75K Orders</a:t>
            </a:r>
            <a:r>
              <a:rPr lang="en-IN" sz="2000" dirty="0"/>
              <a:t>, </a:t>
            </a:r>
            <a:r>
              <a:rPr lang="en-IN" sz="2000" b="1" dirty="0"/>
              <a:t>12K Customers</a:t>
            </a:r>
            <a:r>
              <a:rPr lang="en-IN" sz="2000" dirty="0"/>
              <a:t>, and a </a:t>
            </a:r>
            <a:r>
              <a:rPr lang="en-IN" sz="2000" b="1" dirty="0"/>
              <a:t>35.17% Profit Margin</a:t>
            </a:r>
            <a:r>
              <a:rPr lang="en-IN" sz="2000" dirty="0"/>
              <a:t> through KPI cards.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Sales and Profit Analysis:</a:t>
            </a:r>
            <a:r>
              <a:rPr lang="en-IN" sz="2000" dirty="0"/>
              <a:t> Combines monthly sales trends, </a:t>
            </a:r>
            <a:r>
              <a:rPr lang="en-IN" sz="2000" b="1" dirty="0"/>
              <a:t>Online vs Store</a:t>
            </a:r>
            <a:r>
              <a:rPr lang="en-IN" sz="2000" dirty="0"/>
              <a:t> channel performance, category-wise sales, and regional profitability in a single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Management Overview:</a:t>
            </a:r>
            <a:r>
              <a:rPr lang="en-IN" sz="2000" dirty="0"/>
              <a:t> Provides a quick and clear view of overall business performance, revenue sources, and areas where profit is concentrated.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Key Insight:</a:t>
            </a:r>
            <a:r>
              <a:rPr lang="en-IN" sz="2000" dirty="0"/>
              <a:t> The business maintains a </a:t>
            </a:r>
            <a:r>
              <a:rPr lang="en-IN" sz="2000" b="1" dirty="0"/>
              <a:t>35.17% profit margin</a:t>
            </a:r>
            <a:r>
              <a:rPr lang="en-IN" sz="2000" dirty="0"/>
              <a:t>, while sales show stronger performance toward the later months. Differences across regions and product categories help identify areas for further focus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211997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764" y="19856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&amp; Customer Insights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1475" y="4889004"/>
            <a:ext cx="10868745" cy="14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099FD-FE28-C80D-4576-52FDE5C47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49"/>
            <a:ext cx="12192000" cy="6111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FD88-8F6A-58B5-C27A-D69024E1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F15DF9-53F9-C321-3D45-CF6A7993CF6D}"/>
              </a:ext>
            </a:extLst>
          </p:cNvPr>
          <p:cNvSpPr/>
          <p:nvPr/>
        </p:nvSpPr>
        <p:spPr>
          <a:xfrm>
            <a:off x="661475" y="54580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&amp; Customer Insights</a:t>
            </a:r>
            <a:endParaRPr lang="en-US" sz="3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E3CEA2C-6E67-67F7-5E70-46A46FAD221F}"/>
              </a:ext>
            </a:extLst>
          </p:cNvPr>
          <p:cNvSpPr/>
          <p:nvPr/>
        </p:nvSpPr>
        <p:spPr>
          <a:xfrm>
            <a:off x="661475" y="1342663"/>
            <a:ext cx="10868745" cy="4969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Top 10 Products by Sales:</a:t>
            </a:r>
            <a:r>
              <a:rPr lang="en-IN" sz="2000" dirty="0"/>
              <a:t> Highlights the products contributing the highest sales and helps identify strong-performing products.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Sales by Sub-Category:</a:t>
            </a:r>
            <a:r>
              <a:rPr lang="en-IN" sz="2000" dirty="0"/>
              <a:t> Compares sales across different sub-categories to understand product-level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Top 10 Customers by Sales:</a:t>
            </a:r>
            <a:r>
              <a:rPr lang="en-IN" sz="2000" dirty="0"/>
              <a:t> Identifies the highest-value customers based on their total sales contribution.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Sales by Age Group:</a:t>
            </a:r>
            <a:r>
              <a:rPr lang="en-IN" sz="2000" dirty="0"/>
              <a:t> Shows how sales are distributed across different customer age groups and helps understand customer segments.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Filters:</a:t>
            </a:r>
            <a:r>
              <a:rPr lang="en-IN" sz="2000" dirty="0"/>
              <a:t> Year, Region, Category, and Channel allow users to explore the dashboard from different perspectives.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Business Purpose:</a:t>
            </a:r>
            <a:r>
              <a:rPr lang="en-IN" sz="2000" dirty="0"/>
              <a:t> Helps answer practical questions such as which products perform best, which customers contribute more sales, and which customer age groups generate higher revenue.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Key Insight:</a:t>
            </a:r>
            <a:r>
              <a:rPr lang="en-IN" sz="2000" dirty="0"/>
              <a:t> The dashboard helps identify high-performing products and customers while showing how sales are distributed across different age groups, supporting more focused business and marketing decisions.</a:t>
            </a:r>
          </a:p>
        </p:txBody>
      </p:sp>
    </p:spTree>
    <p:extLst>
      <p:ext uri="{BB962C8B-B14F-4D97-AF65-F5344CB8AC3E}">
        <p14:creationId xmlns:p14="http://schemas.microsoft.com/office/powerpoint/2010/main" val="55648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6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Filters (Slicers)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09330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Both pages include Year, Region, Category, and Channel slicers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Let viewers filter the entire report live — e.g., only 2024 Electronics sales in the North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Built for self-service exploration, not just static reporting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3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00008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Takeaways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77852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Sales peak at year-end, dip in February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handful of categories and products drive most revenue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Regional performance is uneven — opportunity to grow lagging regions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loyal top-customer base adds outsized value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dashboard pinpoints exactly where sales and profit are slipping — turning a vague worry into a clear, actionable plan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589</Words>
  <Application>Microsoft Office PowerPoint</Application>
  <PresentationFormat>Widescreen</PresentationFormat>
  <Paragraphs>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Noto Serif Medium</vt:lpstr>
      <vt:lpstr>Arial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rana</cp:lastModifiedBy>
  <cp:revision>6</cp:revision>
  <dcterms:created xsi:type="dcterms:W3CDTF">2026-09-11T09:24:20Z</dcterms:created>
  <dcterms:modified xsi:type="dcterms:W3CDTF">2026-09-11T10:45:22Z</dcterms:modified>
</cp:coreProperties>
</file>